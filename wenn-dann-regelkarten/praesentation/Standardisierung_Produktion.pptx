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5B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669280" cy="5669280"/>
          </a:xfrm>
          <a:prstGeom prst="ellipse">
            <a:avLst/>
          </a:prstGeom>
          <a:ln w="19050">
            <a:solidFill>
              <a:srgbClr val="1E7A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188720" y="5486400"/>
            <a:ext cx="2377440" cy="2377440"/>
          </a:xfrm>
          <a:prstGeom prst="ellipse">
            <a:avLst/>
          </a:prstGeom>
          <a:ln w="19050">
            <a:solidFill>
              <a:srgbClr val="1E7A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78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KIENBACHER AKADEMIE  /  PRODUKTION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8778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Standardisierung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der Produktion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41605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F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klare Abläufe uns alle stärken – auch wenn's einmal nicht nach Plan läuft.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5989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A9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Werkstatt-Workshop · Produktion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9" name="Image 0" descr="/tmp/claude-0/-home-user-Firma-Kienbacher/65be92b7-6519-5399-b5e3-e3d005bd75f4/scratchpad/ppt/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0" y="5321808"/>
            <a:ext cx="2057400" cy="14249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5B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KIENBACHER AKADEMIE  /  PRODUKTION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E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Ohne Standard – was passiert?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48132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B5F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viele im Alltag erleben, wenn Abläufe nicht klar geregelt sind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502920" cy="502920"/>
          </a:xfrm>
          <a:prstGeom prst="ellipse">
            <a:avLst/>
          </a:prstGeom>
          <a:solidFill>
            <a:srgbClr val="5C6F6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17320" y="210312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E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Jeder macht's ein bisschen anders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17320" y="2441448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F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Qualität hängt davon ab, wer gerade an der Maschine steht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200400"/>
            <a:ext cx="502920" cy="502920"/>
          </a:xfrm>
          <a:prstGeom prst="ellipse">
            <a:avLst/>
          </a:prstGeom>
          <a:solidFill>
            <a:srgbClr val="5C6F6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17320" y="31546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E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Fehler und Nacharbeit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17320" y="3493008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F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Kleine Abweichungen summieren sich zu großen Problemen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251960"/>
            <a:ext cx="502920" cy="502920"/>
          </a:xfrm>
          <a:prstGeom prst="ellipse">
            <a:avLst/>
          </a:prstGeom>
          <a:solidFill>
            <a:srgbClr val="5C6F68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17320" y="42062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E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Zeitverlust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4544568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F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Rückfragen, Suchen, Warten auf Entscheidungen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5303520"/>
            <a:ext cx="502920" cy="502920"/>
          </a:xfrm>
          <a:prstGeom prst="ellipse">
            <a:avLst/>
          </a:prstGeom>
          <a:solidFill>
            <a:srgbClr val="5C6F68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5303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17320" y="525780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E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Höheres Risiko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17320" y="5596128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F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Gerade bei Sicherheit zählt jeder einzelne Handgriff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5B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KIENBACHER AKADEMIE  /  PRODUKTION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E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bringt uns ein Standard?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227168" cy="1965960"/>
          </a:xfrm>
          <a:prstGeom prst="roundRect">
            <a:avLst>
              <a:gd name="adj" fmla="val 3721"/>
            </a:avLst>
          </a:prstGeom>
          <a:solidFill>
            <a:srgbClr val="E8F1EC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" y="2103120"/>
            <a:ext cx="502920" cy="502920"/>
          </a:xfrm>
          <a:prstGeom prst="ellipse">
            <a:avLst/>
          </a:prstGeom>
          <a:solidFill>
            <a:srgbClr val="1E7A5A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45920" y="2057400"/>
            <a:ext cx="394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E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Sicherheit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60120" y="2743200"/>
            <a:ext cx="4587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F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Bekannte Gefahren sind klar abgesichert – für dich und deine KollegInnen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24448" y="1783080"/>
            <a:ext cx="5227168" cy="1965960"/>
          </a:xfrm>
          <a:prstGeom prst="roundRect">
            <a:avLst>
              <a:gd name="adj" fmla="val 3721"/>
            </a:avLst>
          </a:prstGeom>
          <a:solidFill>
            <a:srgbClr val="E8F1EC"/>
          </a:solidFill>
          <a:ln/>
        </p:spPr>
      </p:sp>
      <p:sp>
        <p:nvSpPr>
          <p:cNvPr id="11" name="Shape 9"/>
          <p:cNvSpPr/>
          <p:nvPr/>
        </p:nvSpPr>
        <p:spPr>
          <a:xfrm>
            <a:off x="6644488" y="2103120"/>
            <a:ext cx="502920" cy="502920"/>
          </a:xfrm>
          <a:prstGeom prst="ellipse">
            <a:avLst/>
          </a:prstGeom>
          <a:solidFill>
            <a:srgbClr val="1E7A5A"/>
          </a:solidFill>
          <a:ln/>
        </p:spPr>
      </p:sp>
      <p:sp>
        <p:nvSpPr>
          <p:cNvPr id="12" name="Text 10"/>
          <p:cNvSpPr/>
          <p:nvPr/>
        </p:nvSpPr>
        <p:spPr>
          <a:xfrm>
            <a:off x="6644488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30288" y="2057400"/>
            <a:ext cx="394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E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Gleichbleibende Qualität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644488" y="2743200"/>
            <a:ext cx="4587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F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Jedes Teil, jede Schicht, jede Charge – unabhängig davon, wer arbeitet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023360"/>
            <a:ext cx="5227168" cy="1965960"/>
          </a:xfrm>
          <a:prstGeom prst="roundRect">
            <a:avLst>
              <a:gd name="adj" fmla="val 3721"/>
            </a:avLst>
          </a:prstGeom>
          <a:solidFill>
            <a:srgbClr val="E8F1EC"/>
          </a:solidFill>
          <a:ln/>
        </p:spPr>
      </p:sp>
      <p:sp>
        <p:nvSpPr>
          <p:cNvPr id="16" name="Shape 14"/>
          <p:cNvSpPr/>
          <p:nvPr/>
        </p:nvSpPr>
        <p:spPr>
          <a:xfrm>
            <a:off x="960120" y="4343400"/>
            <a:ext cx="502920" cy="502920"/>
          </a:xfrm>
          <a:prstGeom prst="ellipse">
            <a:avLst/>
          </a:prstGeom>
          <a:solidFill>
            <a:srgbClr val="1E7A5A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4343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45920" y="4297680"/>
            <a:ext cx="394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E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Schnellere Einarbeitung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60120" y="4983480"/>
            <a:ext cx="4587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F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Neue KollegInnen finden sich rasch zurecht statt lange nachzufragen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24448" y="4023360"/>
            <a:ext cx="5227168" cy="1965960"/>
          </a:xfrm>
          <a:prstGeom prst="roundRect">
            <a:avLst>
              <a:gd name="adj" fmla="val 3721"/>
            </a:avLst>
          </a:prstGeom>
          <a:solidFill>
            <a:srgbClr val="E8F1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44488" y="4343400"/>
            <a:ext cx="502920" cy="502920"/>
          </a:xfrm>
          <a:prstGeom prst="ellipse">
            <a:avLst/>
          </a:prstGeom>
          <a:solidFill>
            <a:srgbClr val="1E7A5A"/>
          </a:solidFill>
          <a:ln/>
        </p:spPr>
      </p:sp>
      <p:sp>
        <p:nvSpPr>
          <p:cNvPr id="22" name="Text 20"/>
          <p:cNvSpPr/>
          <p:nvPr/>
        </p:nvSpPr>
        <p:spPr>
          <a:xfrm>
            <a:off x="6644488" y="4343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330288" y="4297680"/>
            <a:ext cx="394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E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Weniger Stress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644488" y="4983480"/>
            <a:ext cx="4587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F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Klare Schritte statt Rätselraten – auch an hektischen Tagen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5B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8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KIENBACHER AKADEMIE  /  PRODUKTION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A9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-1645920" y="-1828800"/>
            <a:ext cx="4572000" cy="4572000"/>
          </a:xfrm>
          <a:prstGeom prst="ellipse">
            <a:avLst/>
          </a:prstGeom>
          <a:ln w="19050">
            <a:solidFill>
              <a:srgbClr val="1E7A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103120"/>
            <a:ext cx="10149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„Der Ausnahmefall braucht doch keinen Standard – oder?“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005840" y="379476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78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Gerade dann zählt er am meisten.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5840" y="484632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F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Denn unter Druck entscheidet nicht das Talent – sondern die Routine.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5B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KIENBACHER AKADEMIE  /  PRODUKTION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E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Beispiel: Maschinenstörung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29844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B5F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Auch der Ausnahmefall folgt einem klaren, standardisierten Ablauf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2522144" cy="3246120"/>
          </a:xfrm>
          <a:prstGeom prst="roundRect">
            <a:avLst>
              <a:gd name="adj" fmla="val 2900"/>
            </a:avLst>
          </a:prstGeom>
          <a:solidFill>
            <a:srgbClr val="E8F1EC"/>
          </a:solidFill>
          <a:ln/>
        </p:spPr>
      </p:sp>
      <p:sp>
        <p:nvSpPr>
          <p:cNvPr id="7" name="Shape 5"/>
          <p:cNvSpPr/>
          <p:nvPr/>
        </p:nvSpPr>
        <p:spPr>
          <a:xfrm>
            <a:off x="1626832" y="2240280"/>
            <a:ext cx="548640" cy="548640"/>
          </a:xfrm>
          <a:prstGeom prst="ellipse">
            <a:avLst/>
          </a:prstGeom>
          <a:solidFill>
            <a:srgbClr val="1E7A5A"/>
          </a:solidFill>
          <a:ln/>
        </p:spPr>
      </p:sp>
      <p:sp>
        <p:nvSpPr>
          <p:cNvPr id="8" name="Text 6"/>
          <p:cNvSpPr/>
          <p:nvPr/>
        </p:nvSpPr>
        <p:spPr>
          <a:xfrm>
            <a:off x="1626832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77240" y="3017520"/>
            <a:ext cx="2247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E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Melden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3474720"/>
            <a:ext cx="206494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B5F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Mitarbeitende informieren die Schichtführung über die Störung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180512" y="3470148"/>
            <a:ext cx="237744" cy="237744"/>
          </a:xfrm>
          <a:prstGeom prst="rightArrow">
            <a:avLst/>
          </a:prstGeom>
          <a:solidFill>
            <a:srgbClr val="B9C9C2"/>
          </a:solidFill>
          <a:ln/>
        </p:spPr>
      </p:sp>
      <p:sp>
        <p:nvSpPr>
          <p:cNvPr id="12" name="Shape 10"/>
          <p:cNvSpPr/>
          <p:nvPr/>
        </p:nvSpPr>
        <p:spPr>
          <a:xfrm>
            <a:off x="3436544" y="1965960"/>
            <a:ext cx="2522144" cy="3246120"/>
          </a:xfrm>
          <a:prstGeom prst="roundRect">
            <a:avLst>
              <a:gd name="adj" fmla="val 2900"/>
            </a:avLst>
          </a:prstGeom>
          <a:solidFill>
            <a:srgbClr val="FFEFD4"/>
          </a:solidFill>
          <a:ln/>
        </p:spPr>
      </p:sp>
      <p:sp>
        <p:nvSpPr>
          <p:cNvPr id="13" name="Shape 11"/>
          <p:cNvSpPr/>
          <p:nvPr/>
        </p:nvSpPr>
        <p:spPr>
          <a:xfrm>
            <a:off x="4423296" y="2240280"/>
            <a:ext cx="548640" cy="548640"/>
          </a:xfrm>
          <a:prstGeom prst="ellipse">
            <a:avLst/>
          </a:prstGeom>
          <a:solidFill>
            <a:srgbClr val="C78100"/>
          </a:solidFill>
          <a:ln/>
        </p:spPr>
      </p:sp>
      <p:sp>
        <p:nvSpPr>
          <p:cNvPr id="14" name="Text 12"/>
          <p:cNvSpPr/>
          <p:nvPr/>
        </p:nvSpPr>
        <p:spPr>
          <a:xfrm>
            <a:off x="4423296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573704" y="3017520"/>
            <a:ext cx="2247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E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Entscheiden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665144" y="3474720"/>
            <a:ext cx="206494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B5F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Schichtführung behebt selbst – oder holt Elektrik / Werkzeugbau dazu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976976" y="3470148"/>
            <a:ext cx="237744" cy="237744"/>
          </a:xfrm>
          <a:prstGeom prst="rightArrow">
            <a:avLst/>
          </a:prstGeom>
          <a:solidFill>
            <a:srgbClr val="B9C9C2"/>
          </a:solidFill>
          <a:ln/>
        </p:spPr>
      </p:sp>
      <p:sp>
        <p:nvSpPr>
          <p:cNvPr id="18" name="Shape 16"/>
          <p:cNvSpPr/>
          <p:nvPr/>
        </p:nvSpPr>
        <p:spPr>
          <a:xfrm>
            <a:off x="6233008" y="1965960"/>
            <a:ext cx="2522144" cy="3246120"/>
          </a:xfrm>
          <a:prstGeom prst="roundRect">
            <a:avLst>
              <a:gd name="adj" fmla="val 2900"/>
            </a:avLst>
          </a:prstGeom>
          <a:solidFill>
            <a:srgbClr val="E8F1EC"/>
          </a:solidFill>
          <a:ln/>
        </p:spPr>
      </p:sp>
      <p:sp>
        <p:nvSpPr>
          <p:cNvPr id="19" name="Shape 17"/>
          <p:cNvSpPr/>
          <p:nvPr/>
        </p:nvSpPr>
        <p:spPr>
          <a:xfrm>
            <a:off x="7219759" y="2240280"/>
            <a:ext cx="548640" cy="548640"/>
          </a:xfrm>
          <a:prstGeom prst="ellipse">
            <a:avLst/>
          </a:prstGeom>
          <a:solidFill>
            <a:srgbClr val="1E7A5A"/>
          </a:solidFill>
          <a:ln/>
        </p:spPr>
      </p:sp>
      <p:sp>
        <p:nvSpPr>
          <p:cNvPr id="20" name="Text 18"/>
          <p:cNvSpPr/>
          <p:nvPr/>
        </p:nvSpPr>
        <p:spPr>
          <a:xfrm>
            <a:off x="7219759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370168" y="3017520"/>
            <a:ext cx="2247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E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Abstimmen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61608" y="3474720"/>
            <a:ext cx="206494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B5F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der Produktionsplanung: warten oder auf den nächsten Auftrag umrüsten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773439" y="3470148"/>
            <a:ext cx="237744" cy="237744"/>
          </a:xfrm>
          <a:prstGeom prst="rightArrow">
            <a:avLst/>
          </a:prstGeom>
          <a:solidFill>
            <a:srgbClr val="B9C9C2"/>
          </a:solidFill>
          <a:ln/>
        </p:spPr>
      </p:sp>
      <p:sp>
        <p:nvSpPr>
          <p:cNvPr id="24" name="Shape 22"/>
          <p:cNvSpPr/>
          <p:nvPr/>
        </p:nvSpPr>
        <p:spPr>
          <a:xfrm>
            <a:off x="9029471" y="1965960"/>
            <a:ext cx="2522144" cy="3246120"/>
          </a:xfrm>
          <a:prstGeom prst="roundRect">
            <a:avLst>
              <a:gd name="adj" fmla="val 2900"/>
            </a:avLst>
          </a:prstGeom>
          <a:solidFill>
            <a:srgbClr val="FFEFD4"/>
          </a:solidFill>
          <a:ln/>
        </p:spPr>
      </p:sp>
      <p:sp>
        <p:nvSpPr>
          <p:cNvPr id="25" name="Shape 23"/>
          <p:cNvSpPr/>
          <p:nvPr/>
        </p:nvSpPr>
        <p:spPr>
          <a:xfrm>
            <a:off x="10016223" y="2240280"/>
            <a:ext cx="548640" cy="548640"/>
          </a:xfrm>
          <a:prstGeom prst="ellipse">
            <a:avLst/>
          </a:prstGeom>
          <a:solidFill>
            <a:srgbClr val="C78100"/>
          </a:solidFill>
          <a:ln/>
        </p:spPr>
      </p:sp>
      <p:sp>
        <p:nvSpPr>
          <p:cNvPr id="26" name="Text 24"/>
          <p:cNvSpPr/>
          <p:nvPr/>
        </p:nvSpPr>
        <p:spPr>
          <a:xfrm>
            <a:off x="10016223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166631" y="3017520"/>
            <a:ext cx="2247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E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Wiederanlauf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258071" y="3474720"/>
            <a:ext cx="206494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B5F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 30 Min. Stillstand: Erststück wird von PQB/Teamleader freigegeben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40080" y="54406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B5F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Quelle: Kienbacher Akademie – Lernkarte RK-009 „Was mache ich bei einer Maschinenstörung?“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5B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KIENBACHER AKADEMIE  /  PRODUKTION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E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Standards gerade unter Druck zählen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3393338" cy="3977640"/>
          </a:xfrm>
          <a:prstGeom prst="roundRect">
            <a:avLst>
              <a:gd name="adj" fmla="val 2156"/>
            </a:avLst>
          </a:prstGeom>
          <a:solidFill>
            <a:srgbClr val="E8F1EC"/>
          </a:solidFill>
          <a:ln/>
        </p:spPr>
      </p:sp>
      <p:sp>
        <p:nvSpPr>
          <p:cNvPr id="6" name="Shape 4"/>
          <p:cNvSpPr/>
          <p:nvPr/>
        </p:nvSpPr>
        <p:spPr>
          <a:xfrm>
            <a:off x="2039569" y="2514600"/>
            <a:ext cx="594360" cy="594360"/>
          </a:xfrm>
          <a:prstGeom prst="ellipse">
            <a:avLst/>
          </a:prstGeom>
          <a:solidFill>
            <a:srgbClr val="1E7A5A"/>
          </a:solidFill>
          <a:ln/>
        </p:spPr>
      </p:sp>
      <p:sp>
        <p:nvSpPr>
          <p:cNvPr id="7" name="Text 5"/>
          <p:cNvSpPr/>
          <p:nvPr/>
        </p:nvSpPr>
        <p:spPr>
          <a:xfrm>
            <a:off x="2039569" y="2514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3520440"/>
            <a:ext cx="30275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2E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Routine schlägt Panik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26618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B5F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Eingeübte Handgriffe funktionieren auch, wenn es stressig wird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99178" y="2011680"/>
            <a:ext cx="3393338" cy="3977640"/>
          </a:xfrm>
          <a:prstGeom prst="roundRect">
            <a:avLst>
              <a:gd name="adj" fmla="val 2156"/>
            </a:avLst>
          </a:prstGeom>
          <a:solidFill>
            <a:srgbClr val="E8F1EC"/>
          </a:solidFill>
          <a:ln/>
        </p:spPr>
      </p:sp>
      <p:sp>
        <p:nvSpPr>
          <p:cNvPr id="11" name="Shape 9"/>
          <p:cNvSpPr/>
          <p:nvPr/>
        </p:nvSpPr>
        <p:spPr>
          <a:xfrm>
            <a:off x="5798668" y="2514600"/>
            <a:ext cx="594360" cy="594360"/>
          </a:xfrm>
          <a:prstGeom prst="ellipse">
            <a:avLst/>
          </a:prstGeom>
          <a:solidFill>
            <a:srgbClr val="1E7A5A"/>
          </a:solidFill>
          <a:ln/>
        </p:spPr>
      </p:sp>
      <p:sp>
        <p:nvSpPr>
          <p:cNvPr id="12" name="Text 10"/>
          <p:cNvSpPr/>
          <p:nvPr/>
        </p:nvSpPr>
        <p:spPr>
          <a:xfrm>
            <a:off x="5798668" y="2514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82058" y="3520440"/>
            <a:ext cx="30275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2E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Weniger Fehler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764938" y="4297680"/>
            <a:ext cx="26618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B5F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Klare Schritte verhindern Vergessenes und Verwechslungen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58277" y="2011680"/>
            <a:ext cx="3393338" cy="3977640"/>
          </a:xfrm>
          <a:prstGeom prst="roundRect">
            <a:avLst>
              <a:gd name="adj" fmla="val 2156"/>
            </a:avLst>
          </a:prstGeom>
          <a:solidFill>
            <a:srgbClr val="E8F1EC"/>
          </a:solidFill>
          <a:ln/>
        </p:spPr>
      </p:sp>
      <p:sp>
        <p:nvSpPr>
          <p:cNvPr id="16" name="Shape 14"/>
          <p:cNvSpPr/>
          <p:nvPr/>
        </p:nvSpPr>
        <p:spPr>
          <a:xfrm>
            <a:off x="9557766" y="2514600"/>
            <a:ext cx="594360" cy="594360"/>
          </a:xfrm>
          <a:prstGeom prst="ellipse">
            <a:avLst/>
          </a:prstGeom>
          <a:solidFill>
            <a:srgbClr val="1E7A5A"/>
          </a:solidFill>
          <a:ln/>
        </p:spPr>
      </p:sp>
      <p:sp>
        <p:nvSpPr>
          <p:cNvPr id="17" name="Text 15"/>
          <p:cNvSpPr/>
          <p:nvPr/>
        </p:nvSpPr>
        <p:spPr>
          <a:xfrm>
            <a:off x="9557766" y="2514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341157" y="3520440"/>
            <a:ext cx="30275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2E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Klare Verantwortung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524037" y="4297680"/>
            <a:ext cx="26618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B5F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 und jeder weiß sofort, was zu tun ist – ohne langes Diskutieren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5B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KIENBACHER AKADEMIE  /  PRODUKTION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E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Jetzt seid ihr dran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481328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B5F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Praxisteil mit den Lernkarten der Kienbacher Akademie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457200" cy="457200"/>
          </a:xfrm>
          <a:prstGeom prst="ellipse">
            <a:avLst/>
          </a:prstGeom>
          <a:solidFill>
            <a:srgbClr val="1E7A5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2267712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E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Kleingruppen: die laminierten Lernkarten am Tisch gemeinsam durchgehen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246120"/>
            <a:ext cx="457200" cy="457200"/>
          </a:xfrm>
          <a:prstGeom prst="ellipse">
            <a:avLst/>
          </a:prstGeom>
          <a:solidFill>
            <a:srgbClr val="1E7A5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3227832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E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Schritt für Schritt nachvollziehen – wie beim Beispiel Maschinenstörung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4206240"/>
            <a:ext cx="457200" cy="457200"/>
          </a:xfrm>
          <a:prstGeom prst="ellipse">
            <a:avLst/>
          </a:prstGeom>
          <a:solidFill>
            <a:srgbClr val="1E7A5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4187952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E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Eigene Praxisfälle einbringen: Wo sagen wir noch „das mach ich halt so“?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589520" y="2194560"/>
            <a:ext cx="3931920" cy="37490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D7E3D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589520" y="2194560"/>
            <a:ext cx="3931920" cy="960120"/>
          </a:xfrm>
          <a:prstGeom prst="roundRect">
            <a:avLst>
              <a:gd name="adj" fmla="val 9524"/>
            </a:avLst>
          </a:prstGeom>
          <a:solidFill>
            <a:srgbClr val="0D5B43"/>
          </a:solidFill>
          <a:ln/>
        </p:spPr>
      </p:sp>
      <p:sp>
        <p:nvSpPr>
          <p:cNvPr id="17" name="Shape 15"/>
          <p:cNvSpPr/>
          <p:nvPr/>
        </p:nvSpPr>
        <p:spPr>
          <a:xfrm>
            <a:off x="7589520" y="2697480"/>
            <a:ext cx="3931920" cy="457200"/>
          </a:xfrm>
          <a:prstGeom prst="rect">
            <a:avLst/>
          </a:prstGeom>
          <a:solidFill>
            <a:srgbClr val="0D5B43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0" y="23591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78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KIENBACHER AKADEMIE / PRODUKTION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863840" y="263347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mache ich bei einer Maschinenstörung?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863840" y="3383280"/>
            <a:ext cx="3383280" cy="457200"/>
          </a:xfrm>
          <a:prstGeom prst="roundRect">
            <a:avLst>
              <a:gd name="adj" fmla="val 10000"/>
            </a:avLst>
          </a:prstGeom>
          <a:solidFill>
            <a:srgbClr val="D3EBDD"/>
          </a:solidFill>
          <a:ln w="9525">
            <a:solidFill>
              <a:srgbClr val="1E7A5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63840" y="3977640"/>
            <a:ext cx="3383280" cy="548640"/>
          </a:xfrm>
          <a:prstGeom prst="roundRect">
            <a:avLst>
              <a:gd name="adj" fmla="val 8333"/>
            </a:avLst>
          </a:prstGeom>
          <a:solidFill>
            <a:srgbClr val="E8F1EC"/>
          </a:solidFill>
          <a:ln w="9525">
            <a:solidFill>
              <a:srgbClr val="1E7A5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863840" y="4663440"/>
            <a:ext cx="3383280" cy="685800"/>
          </a:xfrm>
          <a:prstGeom prst="roundRect">
            <a:avLst>
              <a:gd name="adj" fmla="val 6667"/>
            </a:avLst>
          </a:prstGeom>
          <a:solidFill>
            <a:srgbClr val="FFEFD4"/>
          </a:solidFill>
          <a:ln w="9525">
            <a:solidFill>
              <a:srgbClr val="C781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863840" y="5486400"/>
            <a:ext cx="3383280" cy="457200"/>
          </a:xfrm>
          <a:prstGeom prst="roundRect">
            <a:avLst>
              <a:gd name="adj" fmla="val 10000"/>
            </a:avLst>
          </a:prstGeom>
          <a:solidFill>
            <a:srgbClr val="D3EBDD"/>
          </a:solidFill>
          <a:ln w="9525">
            <a:solidFill>
              <a:srgbClr val="1E7A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89520" y="60533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B5F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RK-009 · laminiert am Tisch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5B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8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KIENBACHER AKADEMIE  /  PRODUKTION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A9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9601200" y="3840480"/>
            <a:ext cx="4114800" cy="4114800"/>
          </a:xfrm>
          <a:prstGeom prst="ellipse">
            <a:avLst/>
          </a:prstGeom>
          <a:ln w="19050">
            <a:solidFill>
              <a:srgbClr val="1E7A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9144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heißt das für dich?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457200" cy="457200"/>
          </a:xfrm>
          <a:prstGeom prst="ellipse">
            <a:avLst/>
          </a:prstGeom>
          <a:solidFill>
            <a:srgbClr val="C7810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1764792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Standards einhalten – auch wenn's schnell gehen muss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2560320"/>
            <a:ext cx="457200" cy="457200"/>
          </a:xfrm>
          <a:prstGeom prst="ellipse">
            <a:avLst/>
          </a:prstGeom>
          <a:solidFill>
            <a:srgbClr val="C7810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2542032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 Unsicherheit: fragen statt improvisieren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3337560"/>
            <a:ext cx="457200" cy="457200"/>
          </a:xfrm>
          <a:prstGeom prst="ellipse">
            <a:avLst/>
          </a:prstGeom>
          <a:solidFill>
            <a:srgbClr val="C7810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3319272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Verbesserungen einbringen – Standards leben von uns allen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470916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i="1" dirty="0">
                <a:solidFill>
                  <a:srgbClr val="C78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„Standard gibt uns Sicherheit – gerade wenn's brennt.“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40080" y="5623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Danke fürs Mitdenken.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2026-09-14T08:48:20Z</dcterms:created>
  <dcterms:modified xsi:type="dcterms:W3CDTF">2026-09-14T08:48:20Z</dcterms:modified>
</cp:coreProperties>
</file>