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laeche-kopf"/>
          <p:cNvSpPr/>
          <p:nvPr/>
        </p:nvSpPr>
        <p:spPr>
          <a:xfrm>
            <a:off x="0" y="0"/>
            <a:ext cx="7560000" cy="1447800"/>
          </a:xfrm>
          <a:prstGeom prst="rect">
            <a:avLst/>
          </a:prstGeom>
          <a:solidFill>
            <a:srgbClr val="00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logo" descr="logo_we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000" y="162000"/>
            <a:ext cx="432000" cy="432000"/>
          </a:xfrm>
          <a:prstGeom prst="rect">
            <a:avLst/>
          </a:prstGeom>
        </p:spPr>
      </p:pic>
      <p:sp>
        <p:nvSpPr>
          <p:cNvPr id="4" name="text-kopf"/>
          <p:cNvSpPr txBox="1"/>
          <p:nvPr/>
        </p:nvSpPr>
        <p:spPr>
          <a:xfrm>
            <a:off x="360000" y="216000"/>
            <a:ext cx="6336000" cy="222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FFFFFF"/>
                </a:solidFill>
                <a:latin typeface="Track"/>
                <a:ea typeface="Arial"/>
                <a:cs typeface="Arial"/>
              </a:rPr>
              <a:t>KIENBACHER AKADEMIE   /   PRODUKTION</a:t>
            </a:r>
          </a:p>
        </p:txBody>
      </p:sp>
      <p:sp>
        <p:nvSpPr>
          <p:cNvPr id="5" name="text-kopf"/>
          <p:cNvSpPr txBox="1"/>
          <p:nvPr/>
        </p:nvSpPr>
        <p:spPr>
          <a:xfrm>
            <a:off x="360000" y="418590"/>
            <a:ext cx="6336000" cy="82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Track"/>
                <a:ea typeface="Arial"/>
                <a:cs typeface="Arial"/>
              </a:rPr>
              <a:t>Was mache ich bei einer Maschinenstörung?</a:t>
            </a:r>
          </a:p>
        </p:txBody>
      </p:sp>
      <p:sp>
        <p:nvSpPr>
          <p:cNvPr id="6" name="text-kopf"/>
          <p:cNvSpPr txBox="1"/>
          <p:nvPr/>
        </p:nvSpPr>
        <p:spPr>
          <a:xfrm>
            <a:off x="360000" y="1122190"/>
            <a:ext cx="6336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Track"/>
                <a:ea typeface="Arial"/>
                <a:cs typeface="Arial"/>
              </a:rPr>
              <a:t>Melden, Reparatur organisieren und Personaleinsatz klären</a:t>
            </a:r>
          </a:p>
        </p:txBody>
      </p:sp>
      <p:sp>
        <p:nvSpPr>
          <p:cNvPr id="7" name="text-b0"/>
          <p:cNvSpPr txBox="1"/>
          <p:nvPr/>
        </p:nvSpPr>
        <p:spPr>
          <a:xfrm>
            <a:off x="360000" y="1735800"/>
            <a:ext cx="684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Kann der Schichtführer die Störung selbst beheben?</a:t>
            </a:r>
          </a:p>
        </p:txBody>
      </p:sp>
      <p:sp>
        <p:nvSpPr>
          <p:cNvPr id="8" name="flaeche-b0ja"/>
          <p:cNvSpPr/>
          <p:nvPr/>
        </p:nvSpPr>
        <p:spPr>
          <a:xfrm>
            <a:off x="360000" y="2382430"/>
            <a:ext cx="3294000" cy="1581870"/>
          </a:xfrm>
          <a:prstGeom prst="roundRect">
            <a:avLst>
              <a:gd name="adj" fmla="val 6827"/>
            </a:avLst>
          </a:prstGeom>
          <a:solidFill>
            <a:srgbClr val="D9EBF2"/>
          </a:solidFill>
          <a:ln w="28575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aeche-b0ja"/>
          <p:cNvSpPr/>
          <p:nvPr/>
        </p:nvSpPr>
        <p:spPr>
          <a:xfrm>
            <a:off x="522000" y="2508430"/>
            <a:ext cx="720000" cy="252000"/>
          </a:xfrm>
          <a:prstGeom prst="roundRect">
            <a:avLst>
              <a:gd name="adj" fmla="val 42857"/>
            </a:avLst>
          </a:prstGeom>
          <a:solidFill>
            <a:srgbClr val="00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-b0ja"/>
          <p:cNvSpPr txBox="1"/>
          <p:nvPr/>
        </p:nvSpPr>
        <p:spPr>
          <a:xfrm>
            <a:off x="522000" y="2527115"/>
            <a:ext cx="72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</a:t>
            </a:r>
          </a:p>
        </p:txBody>
      </p:sp>
      <p:sp>
        <p:nvSpPr>
          <p:cNvPr id="11" name="text-b0ja"/>
          <p:cNvSpPr txBox="1"/>
          <p:nvPr/>
        </p:nvSpPr>
        <p:spPr>
          <a:xfrm>
            <a:off x="522000" y="2832430"/>
            <a:ext cx="2970000" cy="536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SCHICHTFÜHRER BEHEBT DIE STÖRUNG</a:t>
            </a:r>
          </a:p>
        </p:txBody>
      </p:sp>
      <p:sp>
        <p:nvSpPr>
          <p:cNvPr id="12" name="text-b0ja"/>
          <p:cNvSpPr txBox="1"/>
          <p:nvPr/>
        </p:nvSpPr>
        <p:spPr>
          <a:xfrm>
            <a:off x="522000" y="3326490"/>
            <a:ext cx="2970000" cy="454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Vor der Weiterproduktion die Regel zur Erststückfreigabe unten beachten.</a:t>
            </a:r>
          </a:p>
        </p:txBody>
      </p:sp>
      <p:sp>
        <p:nvSpPr>
          <p:cNvPr id="13" name="flaeche-b0nein"/>
          <p:cNvSpPr/>
          <p:nvPr/>
        </p:nvSpPr>
        <p:spPr>
          <a:xfrm>
            <a:off x="3906000" y="2382430"/>
            <a:ext cx="3294000" cy="1581870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19050">
            <a:solidFill>
              <a:srgbClr val="7B7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aeche-b0nein"/>
          <p:cNvSpPr/>
          <p:nvPr/>
        </p:nvSpPr>
        <p:spPr>
          <a:xfrm>
            <a:off x="3906000" y="2418430"/>
            <a:ext cx="108000" cy="150987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aeche-b0nein"/>
          <p:cNvSpPr/>
          <p:nvPr/>
        </p:nvSpPr>
        <p:spPr>
          <a:xfrm>
            <a:off x="4068000" y="2508430"/>
            <a:ext cx="720000" cy="252000"/>
          </a:xfrm>
          <a:prstGeom prst="roundRect">
            <a:avLst>
              <a:gd name="adj" fmla="val 42857"/>
            </a:avLst>
          </a:prstGeom>
          <a:solidFill>
            <a:srgbClr val="5C5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b0nein"/>
          <p:cNvSpPr txBox="1"/>
          <p:nvPr/>
        </p:nvSpPr>
        <p:spPr>
          <a:xfrm>
            <a:off x="4068000" y="2527115"/>
            <a:ext cx="72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NEIN</a:t>
            </a:r>
          </a:p>
        </p:txBody>
      </p:sp>
      <p:sp>
        <p:nvSpPr>
          <p:cNvPr id="17" name="text-b0nein"/>
          <p:cNvSpPr txBox="1"/>
          <p:nvPr/>
        </p:nvSpPr>
        <p:spPr>
          <a:xfrm>
            <a:off x="4068000" y="2832430"/>
            <a:ext cx="297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UNTERSTÜTZUNG ORGANISIEREN</a:t>
            </a:r>
          </a:p>
        </p:txBody>
      </p:sp>
      <p:sp>
        <p:nvSpPr>
          <p:cNvPr id="18" name="text-b0nein"/>
          <p:cNvSpPr txBox="1"/>
          <p:nvPr/>
        </p:nvSpPr>
        <p:spPr>
          <a:xfrm>
            <a:off x="4068000" y="3111860"/>
            <a:ext cx="2970000" cy="817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Fachkräfte anrufen (Elektriker, Werkzeugbau) und eintragen. Bei längerer Störung Personal nach AVOR-Priorität umverteilen, Planung aktualisieren.</a:t>
            </a:r>
          </a:p>
        </p:txBody>
      </p:sp>
      <p:cxnSp>
        <p:nvCxnSpPr>
          <p:cNvPr id="19" name="linie-b0"/>
          <p:cNvCxnSpPr/>
          <p:nvPr/>
        </p:nvCxnSpPr>
        <p:spPr>
          <a:xfrm>
            <a:off x="3780000" y="2022430"/>
            <a:ext cx="0" cy="180000"/>
          </a:xfrm>
          <a:prstGeom prst="line">
            <a:avLst/>
          </a:prstGeom>
          <a:ln w="19050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ie-b0"/>
          <p:cNvCxnSpPr/>
          <p:nvPr/>
        </p:nvCxnSpPr>
        <p:spPr>
          <a:xfrm>
            <a:off x="2007000" y="2202430"/>
            <a:ext cx="3546000" cy="0"/>
          </a:xfrm>
          <a:prstGeom prst="line">
            <a:avLst/>
          </a:prstGeom>
          <a:ln w="19050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ie-b0"/>
          <p:cNvCxnSpPr/>
          <p:nvPr/>
        </p:nvCxnSpPr>
        <p:spPr>
          <a:xfrm>
            <a:off x="2007000" y="2202430"/>
            <a:ext cx="0" cy="180000"/>
          </a:xfrm>
          <a:prstGeom prst="line">
            <a:avLst/>
          </a:prstGeom>
          <a:ln w="28575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ie-b0"/>
          <p:cNvCxnSpPr/>
          <p:nvPr/>
        </p:nvCxnSpPr>
        <p:spPr>
          <a:xfrm>
            <a:off x="5553000" y="2202430"/>
            <a:ext cx="0" cy="180000"/>
          </a:xfrm>
          <a:prstGeom prst="line">
            <a:avLst/>
          </a:prstGeom>
          <a:ln w="12700">
            <a:solidFill>
              <a:srgbClr val="7B7C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-b1"/>
          <p:cNvSpPr txBox="1"/>
          <p:nvPr/>
        </p:nvSpPr>
        <p:spPr>
          <a:xfrm>
            <a:off x="360000" y="4144300"/>
            <a:ext cx="684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Reparatur abwarten?</a:t>
            </a:r>
          </a:p>
        </p:txBody>
      </p:sp>
      <p:sp>
        <p:nvSpPr>
          <p:cNvPr id="24" name="flaeche-b1ja"/>
          <p:cNvSpPr/>
          <p:nvPr/>
        </p:nvSpPr>
        <p:spPr>
          <a:xfrm>
            <a:off x="360000" y="4790930"/>
            <a:ext cx="3294000" cy="1218650"/>
          </a:xfrm>
          <a:prstGeom prst="roundRect">
            <a:avLst>
              <a:gd name="adj" fmla="val 8862"/>
            </a:avLst>
          </a:prstGeom>
          <a:solidFill>
            <a:srgbClr val="D9EBF2"/>
          </a:solidFill>
          <a:ln w="28575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aeche-b1ja"/>
          <p:cNvSpPr/>
          <p:nvPr/>
        </p:nvSpPr>
        <p:spPr>
          <a:xfrm>
            <a:off x="522000" y="4916930"/>
            <a:ext cx="720000" cy="252000"/>
          </a:xfrm>
          <a:prstGeom prst="roundRect">
            <a:avLst>
              <a:gd name="adj" fmla="val 42857"/>
            </a:avLst>
          </a:prstGeom>
          <a:solidFill>
            <a:srgbClr val="00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-b1ja"/>
          <p:cNvSpPr txBox="1"/>
          <p:nvPr/>
        </p:nvSpPr>
        <p:spPr>
          <a:xfrm>
            <a:off x="522000" y="4935615"/>
            <a:ext cx="72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</a:t>
            </a:r>
          </a:p>
        </p:txBody>
      </p:sp>
      <p:sp>
        <p:nvSpPr>
          <p:cNvPr id="27" name="text-b1ja"/>
          <p:cNvSpPr txBox="1"/>
          <p:nvPr/>
        </p:nvSpPr>
        <p:spPr>
          <a:xfrm>
            <a:off x="522000" y="5240930"/>
            <a:ext cx="297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REPARATUR ABWARTEN</a:t>
            </a:r>
          </a:p>
        </p:txBody>
      </p:sp>
      <p:sp>
        <p:nvSpPr>
          <p:cNvPr id="28" name="text-b1ja"/>
          <p:cNvSpPr txBox="1"/>
          <p:nvPr/>
        </p:nvSpPr>
        <p:spPr>
          <a:xfrm>
            <a:off x="522000" y="5520360"/>
            <a:ext cx="2970000" cy="454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Personal für die Fortsetzung einplanen; danach Wiederanlauf/Freigabe beachten.</a:t>
            </a:r>
          </a:p>
        </p:txBody>
      </p:sp>
      <p:sp>
        <p:nvSpPr>
          <p:cNvPr id="29" name="flaeche-b1nein"/>
          <p:cNvSpPr/>
          <p:nvPr/>
        </p:nvSpPr>
        <p:spPr>
          <a:xfrm>
            <a:off x="3906000" y="4790930"/>
            <a:ext cx="3294000" cy="121865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19050">
            <a:solidFill>
              <a:srgbClr val="7B7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flaeche-b1nein"/>
          <p:cNvSpPr/>
          <p:nvPr/>
        </p:nvSpPr>
        <p:spPr>
          <a:xfrm>
            <a:off x="3906000" y="4826930"/>
            <a:ext cx="108000" cy="114665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flaeche-b1nein"/>
          <p:cNvSpPr/>
          <p:nvPr/>
        </p:nvSpPr>
        <p:spPr>
          <a:xfrm>
            <a:off x="4068000" y="4916930"/>
            <a:ext cx="720000" cy="252000"/>
          </a:xfrm>
          <a:prstGeom prst="roundRect">
            <a:avLst>
              <a:gd name="adj" fmla="val 42857"/>
            </a:avLst>
          </a:prstGeom>
          <a:solidFill>
            <a:srgbClr val="5C5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-b1nein"/>
          <p:cNvSpPr txBox="1"/>
          <p:nvPr/>
        </p:nvSpPr>
        <p:spPr>
          <a:xfrm>
            <a:off x="4068000" y="4935615"/>
            <a:ext cx="72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NEIN</a:t>
            </a:r>
          </a:p>
        </p:txBody>
      </p:sp>
      <p:sp>
        <p:nvSpPr>
          <p:cNvPr id="33" name="text-b1nein"/>
          <p:cNvSpPr txBox="1"/>
          <p:nvPr/>
        </p:nvSpPr>
        <p:spPr>
          <a:xfrm>
            <a:off x="4068000" y="5240930"/>
            <a:ext cx="297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UMRÜSTEN</a:t>
            </a:r>
          </a:p>
        </p:txBody>
      </p:sp>
      <p:sp>
        <p:nvSpPr>
          <p:cNvPr id="34" name="text-b1nein"/>
          <p:cNvSpPr txBox="1"/>
          <p:nvPr/>
        </p:nvSpPr>
        <p:spPr>
          <a:xfrm>
            <a:off x="4068000" y="5520360"/>
            <a:ext cx="2970000" cy="454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Rüster rüstet ab, bereitet nächsten Auftrag vor; Produktionslogistik schließt den alten ab.</a:t>
            </a:r>
          </a:p>
        </p:txBody>
      </p:sp>
      <p:cxnSp>
        <p:nvCxnSpPr>
          <p:cNvPr id="35" name="linie-b1"/>
          <p:cNvCxnSpPr/>
          <p:nvPr/>
        </p:nvCxnSpPr>
        <p:spPr>
          <a:xfrm>
            <a:off x="3780000" y="4430930"/>
            <a:ext cx="0" cy="180000"/>
          </a:xfrm>
          <a:prstGeom prst="line">
            <a:avLst/>
          </a:prstGeom>
          <a:ln w="19050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ie-b1"/>
          <p:cNvCxnSpPr/>
          <p:nvPr/>
        </p:nvCxnSpPr>
        <p:spPr>
          <a:xfrm>
            <a:off x="2007000" y="4610930"/>
            <a:ext cx="3546000" cy="0"/>
          </a:xfrm>
          <a:prstGeom prst="line">
            <a:avLst/>
          </a:prstGeom>
          <a:ln w="19050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ie-b1"/>
          <p:cNvCxnSpPr/>
          <p:nvPr/>
        </p:nvCxnSpPr>
        <p:spPr>
          <a:xfrm>
            <a:off x="2007000" y="4610930"/>
            <a:ext cx="0" cy="180000"/>
          </a:xfrm>
          <a:prstGeom prst="line">
            <a:avLst/>
          </a:prstGeom>
          <a:ln w="28575">
            <a:solidFill>
              <a:srgbClr val="0079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ie-b1"/>
          <p:cNvCxnSpPr/>
          <p:nvPr/>
        </p:nvCxnSpPr>
        <p:spPr>
          <a:xfrm>
            <a:off x="5553000" y="4610930"/>
            <a:ext cx="0" cy="180000"/>
          </a:xfrm>
          <a:prstGeom prst="line">
            <a:avLst/>
          </a:prstGeom>
          <a:ln w="12700">
            <a:solidFill>
              <a:srgbClr val="7B7C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aeche-b2"/>
          <p:cNvSpPr/>
          <p:nvPr/>
        </p:nvSpPr>
        <p:spPr>
          <a:xfrm>
            <a:off x="360000" y="6189580"/>
            <a:ext cx="6840000" cy="2657510"/>
          </a:xfrm>
          <a:prstGeom prst="roundRect">
            <a:avLst>
              <a:gd name="adj" fmla="val 4063"/>
            </a:avLst>
          </a:prstGeom>
          <a:solidFill>
            <a:srgbClr val="F2F2F2"/>
          </a:solidFill>
          <a:ln w="12700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" name="linie-b2"/>
          <p:cNvCxnSpPr/>
          <p:nvPr/>
        </p:nvCxnSpPr>
        <p:spPr>
          <a:xfrm>
            <a:off x="522000" y="685582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inie-b2"/>
          <p:cNvCxnSpPr/>
          <p:nvPr/>
        </p:nvCxnSpPr>
        <p:spPr>
          <a:xfrm>
            <a:off x="522000" y="714543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ie-b2"/>
          <p:cNvCxnSpPr/>
          <p:nvPr/>
        </p:nvCxnSpPr>
        <p:spPr>
          <a:xfrm>
            <a:off x="522000" y="743504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ie-b2"/>
          <p:cNvCxnSpPr/>
          <p:nvPr/>
        </p:nvCxnSpPr>
        <p:spPr>
          <a:xfrm>
            <a:off x="522000" y="772465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ie-b2"/>
          <p:cNvCxnSpPr/>
          <p:nvPr/>
        </p:nvCxnSpPr>
        <p:spPr>
          <a:xfrm>
            <a:off x="522000" y="819587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ie-b2"/>
          <p:cNvCxnSpPr/>
          <p:nvPr/>
        </p:nvCxnSpPr>
        <p:spPr>
          <a:xfrm>
            <a:off x="522000" y="8485480"/>
            <a:ext cx="6516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-b2"/>
          <p:cNvSpPr txBox="1"/>
          <p:nvPr/>
        </p:nvSpPr>
        <p:spPr>
          <a:xfrm>
            <a:off x="522000" y="6315580"/>
            <a:ext cx="6516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WER MACHT WAS?</a:t>
            </a:r>
          </a:p>
        </p:txBody>
      </p:sp>
      <p:sp>
        <p:nvSpPr>
          <p:cNvPr id="47" name="text-b2"/>
          <p:cNvSpPr txBox="1"/>
          <p:nvPr/>
        </p:nvSpPr>
        <p:spPr>
          <a:xfrm>
            <a:off x="522000" y="662021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Mitarbeitende</a:t>
            </a:r>
          </a:p>
        </p:txBody>
      </p:sp>
      <p:sp>
        <p:nvSpPr>
          <p:cNvPr id="48" name="text-b2"/>
          <p:cNvSpPr txBox="1"/>
          <p:nvPr/>
        </p:nvSpPr>
        <p:spPr>
          <a:xfrm>
            <a:off x="2520000" y="6620210"/>
            <a:ext cx="4518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Störung melden; bei Bedarf zugeteilte Tätigkeit übernehmen.</a:t>
            </a:r>
          </a:p>
        </p:txBody>
      </p:sp>
      <p:sp>
        <p:nvSpPr>
          <p:cNvPr id="49" name="text-b2"/>
          <p:cNvSpPr txBox="1"/>
          <p:nvPr/>
        </p:nvSpPr>
        <p:spPr>
          <a:xfrm>
            <a:off x="522000" y="690982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Schichtführer</a:t>
            </a:r>
          </a:p>
        </p:txBody>
      </p:sp>
      <p:sp>
        <p:nvSpPr>
          <p:cNvPr id="50" name="text-b2"/>
          <p:cNvSpPr txBox="1"/>
          <p:nvPr/>
        </p:nvSpPr>
        <p:spPr>
          <a:xfrm>
            <a:off x="2520000" y="6909820"/>
            <a:ext cx="4518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Störung prüfen/beheben; Personal und Planung informieren.</a:t>
            </a:r>
          </a:p>
        </p:txBody>
      </p:sp>
      <p:sp>
        <p:nvSpPr>
          <p:cNvPr id="51" name="text-b2"/>
          <p:cNvSpPr txBox="1"/>
          <p:nvPr/>
        </p:nvSpPr>
        <p:spPr>
          <a:xfrm>
            <a:off x="522000" y="719943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Elektriker / Werkzeugbau</a:t>
            </a:r>
          </a:p>
        </p:txBody>
      </p:sp>
      <p:sp>
        <p:nvSpPr>
          <p:cNvPr id="52" name="text-b2"/>
          <p:cNvSpPr txBox="1"/>
          <p:nvPr/>
        </p:nvSpPr>
        <p:spPr>
          <a:xfrm>
            <a:off x="2520000" y="7199430"/>
            <a:ext cx="4518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Fachliche Unterstützung bei der Reparatur leisten.</a:t>
            </a:r>
          </a:p>
        </p:txBody>
      </p:sp>
      <p:sp>
        <p:nvSpPr>
          <p:cNvPr id="53" name="text-b2"/>
          <p:cNvSpPr txBox="1"/>
          <p:nvPr/>
        </p:nvSpPr>
        <p:spPr>
          <a:xfrm>
            <a:off x="522000" y="748904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Produktionsplanung</a:t>
            </a:r>
          </a:p>
        </p:txBody>
      </p:sp>
      <p:sp>
        <p:nvSpPr>
          <p:cNvPr id="54" name="text-b2"/>
          <p:cNvSpPr txBox="1"/>
          <p:nvPr/>
        </p:nvSpPr>
        <p:spPr>
          <a:xfrm>
            <a:off x="2520000" y="7489040"/>
            <a:ext cx="4518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Mit Schichtführer abklären: abwarten oder umrüsten.</a:t>
            </a:r>
          </a:p>
        </p:txBody>
      </p:sp>
      <p:sp>
        <p:nvSpPr>
          <p:cNvPr id="55" name="text-b2"/>
          <p:cNvSpPr txBox="1"/>
          <p:nvPr/>
        </p:nvSpPr>
        <p:spPr>
          <a:xfrm>
            <a:off x="522000" y="777865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PQB / Teamleader</a:t>
            </a:r>
          </a:p>
        </p:txBody>
      </p:sp>
      <p:sp>
        <p:nvSpPr>
          <p:cNvPr id="56" name="text-b2"/>
          <p:cNvSpPr txBox="1"/>
          <p:nvPr/>
        </p:nvSpPr>
        <p:spPr>
          <a:xfrm>
            <a:off x="2520000" y="7778650"/>
            <a:ext cx="4518000" cy="454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Erststückfreigabe nach über 30 Minuten dokumentieren; Anfahrteile prüfen, nicht verwendbare als Anfahrausschuss buchen.</a:t>
            </a:r>
          </a:p>
        </p:txBody>
      </p:sp>
      <p:sp>
        <p:nvSpPr>
          <p:cNvPr id="57" name="text-b2"/>
          <p:cNvSpPr txBox="1"/>
          <p:nvPr/>
        </p:nvSpPr>
        <p:spPr>
          <a:xfrm>
            <a:off x="522000" y="824987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Rüster</a:t>
            </a:r>
          </a:p>
        </p:txBody>
      </p:sp>
      <p:sp>
        <p:nvSpPr>
          <p:cNvPr id="58" name="text-b2"/>
          <p:cNvSpPr txBox="1"/>
          <p:nvPr/>
        </p:nvSpPr>
        <p:spPr>
          <a:xfrm>
            <a:off x="2520000" y="8249870"/>
            <a:ext cx="4518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Bei Umrüstung abrüsten.</a:t>
            </a:r>
          </a:p>
        </p:txBody>
      </p:sp>
      <p:sp>
        <p:nvSpPr>
          <p:cNvPr id="59" name="text-b2"/>
          <p:cNvSpPr txBox="1"/>
          <p:nvPr/>
        </p:nvSpPr>
        <p:spPr>
          <a:xfrm>
            <a:off x="522000" y="8539480"/>
            <a:ext cx="1944000" cy="26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Produktionslogistik</a:t>
            </a:r>
          </a:p>
        </p:txBody>
      </p:sp>
      <p:sp>
        <p:nvSpPr>
          <p:cNvPr id="60" name="text-b2"/>
          <p:cNvSpPr txBox="1"/>
          <p:nvPr/>
        </p:nvSpPr>
        <p:spPr>
          <a:xfrm>
            <a:off x="2520000" y="8539480"/>
            <a:ext cx="4518000" cy="272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Alten Auftrag nach Abrüsten abschließen.</a:t>
            </a:r>
          </a:p>
        </p:txBody>
      </p:sp>
      <p:sp>
        <p:nvSpPr>
          <p:cNvPr id="61" name="flaeche-b3"/>
          <p:cNvSpPr/>
          <p:nvPr/>
        </p:nvSpPr>
        <p:spPr>
          <a:xfrm>
            <a:off x="360000" y="9027090"/>
            <a:ext cx="6840000" cy="615220"/>
          </a:xfrm>
          <a:prstGeom prst="roundRect">
            <a:avLst>
              <a:gd name="adj" fmla="val 17554"/>
            </a:avLst>
          </a:prstGeom>
          <a:solidFill>
            <a:srgbClr val="D9EBF2"/>
          </a:solidFill>
          <a:ln w="12700">
            <a:solidFill>
              <a:srgbClr val="00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-b3"/>
          <p:cNvSpPr txBox="1"/>
          <p:nvPr/>
        </p:nvSpPr>
        <p:spPr>
          <a:xfrm>
            <a:off x="522000" y="9153090"/>
            <a:ext cx="2160000" cy="3219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435C"/>
                </a:solidFill>
                <a:latin typeface="Arial"/>
                <a:ea typeface="Arial"/>
                <a:cs typeface="Arial"/>
              </a:rPr>
              <a:t>WEITERARBEITEN WENN</a:t>
            </a:r>
          </a:p>
        </p:txBody>
      </p:sp>
      <p:sp>
        <p:nvSpPr>
          <p:cNvPr id="63" name="text-b3"/>
          <p:cNvSpPr txBox="1"/>
          <p:nvPr/>
        </p:nvSpPr>
        <p:spPr>
          <a:xfrm>
            <a:off x="2826000" y="9153090"/>
            <a:ext cx="4212000" cy="454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435C"/>
                </a:solidFill>
                <a:latin typeface="Arial"/>
                <a:ea typeface="Arial"/>
                <a:cs typeface="Arial"/>
              </a:rPr>
              <a:t>Störung behoben; erforderliche Erststückfreigabe durchgeführt und dokumentiert.</a:t>
            </a:r>
          </a:p>
        </p:txBody>
      </p:sp>
      <p:cxnSp>
        <p:nvCxnSpPr>
          <p:cNvPr id="64" name="linie-fuss"/>
          <p:cNvCxnSpPr/>
          <p:nvPr/>
        </p:nvCxnSpPr>
        <p:spPr>
          <a:xfrm>
            <a:off x="360000" y="10008000"/>
            <a:ext cx="6840000" cy="0"/>
          </a:xfrm>
          <a:prstGeom prst="line">
            <a:avLst/>
          </a:prstGeom>
          <a:ln w="6350">
            <a:solidFill>
              <a:srgbClr val="D1D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-fuss"/>
          <p:cNvSpPr txBox="1"/>
          <p:nvPr/>
        </p:nvSpPr>
        <p:spPr>
          <a:xfrm>
            <a:off x="360000" y="10080000"/>
            <a:ext cx="6840000" cy="198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5D5F"/>
                </a:solidFill>
                <a:latin typeface="Arial"/>
                <a:ea typeface="Arial"/>
                <a:cs typeface="Arial"/>
              </a:rPr>
              <a:t>RK-009   /   Revision 0.2   /   29.09.2026   /   freigegeben</a:t>
            </a:r>
          </a:p>
        </p:txBody>
      </p:sp>
      <p:sp>
        <p:nvSpPr>
          <p:cNvPr id="66" name="text-fuss"/>
          <p:cNvSpPr txBox="1"/>
          <p:nvPr/>
        </p:nvSpPr>
        <p:spPr>
          <a:xfrm>
            <a:off x="360000" y="10231200"/>
            <a:ext cx="6840000" cy="198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5D5F"/>
                </a:solidFill>
                <a:latin typeface="Arial"/>
                <a:ea typeface="Arial"/>
                <a:cs typeface="Arial"/>
              </a:rPr>
              <a:t>Verfasser: A. Brühl     Prüfer: Anna Felcova     Freigeber: Alexander Brühl</a:t>
            </a:r>
          </a:p>
        </p:txBody>
      </p:sp>
      <p:sp>
        <p:nvSpPr>
          <p:cNvPr id="67" name="text-fuss"/>
          <p:cNvSpPr txBox="1"/>
          <p:nvPr/>
        </p:nvSpPr>
        <p:spPr>
          <a:xfrm>
            <a:off x="360000" y="10382400"/>
            <a:ext cx="6840000" cy="198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5D5F"/>
                </a:solidFill>
                <a:latin typeface="Arial"/>
                <a:ea typeface="Arial"/>
                <a:cs typeface="Arial"/>
              </a:rPr>
              <a:t>A4 Hochformat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