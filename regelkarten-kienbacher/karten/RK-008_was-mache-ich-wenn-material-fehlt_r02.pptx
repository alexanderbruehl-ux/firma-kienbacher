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laeche-kopf"/>
          <p:cNvSpPr/>
          <p:nvPr/>
        </p:nvSpPr>
        <p:spPr>
          <a:xfrm>
            <a:off x="0" y="0"/>
            <a:ext cx="7560000" cy="1152000"/>
          </a:xfrm>
          <a:prstGeom prst="rect">
            <a:avLst/>
          </a:prstGeom>
          <a:solidFill>
            <a:srgbClr val="00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logo" descr="logo_wei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000" y="162000"/>
            <a:ext cx="432000" cy="432000"/>
          </a:xfrm>
          <a:prstGeom prst="rect">
            <a:avLst/>
          </a:prstGeom>
        </p:spPr>
      </p:pic>
      <p:sp>
        <p:nvSpPr>
          <p:cNvPr id="4" name="text-kopf"/>
          <p:cNvSpPr txBox="1"/>
          <p:nvPr/>
        </p:nvSpPr>
        <p:spPr>
          <a:xfrm>
            <a:off x="360000" y="216000"/>
            <a:ext cx="6336000" cy="2228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20">
                <a:solidFill>
                  <a:srgbClr val="FFFFFF"/>
                </a:solidFill>
                <a:latin typeface="Track"/>
                <a:ea typeface="Arial"/>
                <a:cs typeface="Arial"/>
              </a:rPr>
              <a:t>KIENBACHER AKADEMIE   /   PRODUKTION</a:t>
            </a:r>
          </a:p>
        </p:txBody>
      </p:sp>
      <p:sp>
        <p:nvSpPr>
          <p:cNvPr id="5" name="text-kopf"/>
          <p:cNvSpPr txBox="1"/>
          <p:nvPr/>
        </p:nvSpPr>
        <p:spPr>
          <a:xfrm>
            <a:off x="360000" y="418590"/>
            <a:ext cx="6336000" cy="5448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Track"/>
                <a:ea typeface="Arial"/>
                <a:cs typeface="Arial"/>
              </a:rPr>
              <a:t>Was mache ich, wenn Material fehlt?</a:t>
            </a:r>
          </a:p>
        </p:txBody>
      </p:sp>
      <p:sp>
        <p:nvSpPr>
          <p:cNvPr id="6" name="text-kopf"/>
          <p:cNvSpPr txBox="1"/>
          <p:nvPr/>
        </p:nvSpPr>
        <p:spPr>
          <a:xfrm>
            <a:off x="360000" y="825010"/>
            <a:ext cx="6336000" cy="272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rack"/>
                <a:ea typeface="Arial"/>
                <a:cs typeface="Arial"/>
              </a:rPr>
              <a:t>Melden, Bestand prüfen und Material bereitstellen</a:t>
            </a:r>
          </a:p>
        </p:txBody>
      </p:sp>
      <p:sp>
        <p:nvSpPr>
          <p:cNvPr id="7" name="flaeche-b0"/>
          <p:cNvSpPr/>
          <p:nvPr/>
        </p:nvSpPr>
        <p:spPr>
          <a:xfrm>
            <a:off x="360000" y="1440000"/>
            <a:ext cx="6840000" cy="845120"/>
          </a:xfrm>
          <a:prstGeom prst="roundRect">
            <a:avLst>
              <a:gd name="adj" fmla="val 1277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-b0"/>
          <p:cNvSpPr txBox="1"/>
          <p:nvPr/>
        </p:nvSpPr>
        <p:spPr>
          <a:xfrm>
            <a:off x="522000" y="1566000"/>
            <a:ext cx="4680000" cy="297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1 VOR PRODUKTIONSBEGINN</a:t>
            </a:r>
          </a:p>
        </p:txBody>
      </p:sp>
      <p:sp>
        <p:nvSpPr>
          <p:cNvPr id="9" name="text-b0"/>
          <p:cNvSpPr txBox="1"/>
          <p:nvPr/>
        </p:nvSpPr>
        <p:spPr>
          <a:xfrm>
            <a:off x="5310000" y="1566000"/>
            <a:ext cx="17280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Produktionslogistik</a:t>
            </a:r>
          </a:p>
        </p:txBody>
      </p:sp>
      <p:sp>
        <p:nvSpPr>
          <p:cNvPr id="10" name="text-b0"/>
          <p:cNvSpPr txBox="1"/>
          <p:nvPr/>
        </p:nvSpPr>
        <p:spPr>
          <a:xfrm>
            <a:off x="522000" y="1828920"/>
            <a:ext cx="6516000" cy="412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Erhält die Stückliste von der Produktionsplanung und prüft in ARLG, ob genügend Material und Kaufteile vorhanden sind. Fehlmengen meldet sie an die Produktionsplanung und verantwortet die Materialbereitstellung.</a:t>
            </a:r>
          </a:p>
        </p:txBody>
      </p:sp>
      <p:sp>
        <p:nvSpPr>
          <p:cNvPr id="11" name="flaeche-b1"/>
          <p:cNvSpPr/>
          <p:nvPr/>
        </p:nvSpPr>
        <p:spPr>
          <a:xfrm>
            <a:off x="360000" y="2465120"/>
            <a:ext cx="6840000" cy="680020"/>
          </a:xfrm>
          <a:prstGeom prst="roundRect">
            <a:avLst>
              <a:gd name="adj" fmla="val 1588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-b1"/>
          <p:cNvSpPr txBox="1"/>
          <p:nvPr/>
        </p:nvSpPr>
        <p:spPr>
          <a:xfrm>
            <a:off x="522000" y="2591120"/>
            <a:ext cx="4680000" cy="297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2 WÄHREND DER LAUFENDEN PRODUKTION</a:t>
            </a:r>
          </a:p>
        </p:txBody>
      </p:sp>
      <p:sp>
        <p:nvSpPr>
          <p:cNvPr id="13" name="text-b1"/>
          <p:cNvSpPr txBox="1"/>
          <p:nvPr/>
        </p:nvSpPr>
        <p:spPr>
          <a:xfrm>
            <a:off x="5310000" y="2591120"/>
            <a:ext cx="17280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Mitarbeitende</a:t>
            </a:r>
          </a:p>
        </p:txBody>
      </p:sp>
      <p:sp>
        <p:nvSpPr>
          <p:cNvPr id="14" name="text-b1"/>
          <p:cNvSpPr txBox="1"/>
          <p:nvPr/>
        </p:nvSpPr>
        <p:spPr>
          <a:xfrm>
            <a:off x="522000" y="2854040"/>
            <a:ext cx="65160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Melden: „Ich habe kein Material.“ Ansprechpartner ist die Produktionslogistik.</a:t>
            </a:r>
          </a:p>
        </p:txBody>
      </p:sp>
      <p:sp>
        <p:nvSpPr>
          <p:cNvPr id="15" name="flaeche-b2"/>
          <p:cNvSpPr/>
          <p:nvPr/>
        </p:nvSpPr>
        <p:spPr>
          <a:xfrm>
            <a:off x="360000" y="3325140"/>
            <a:ext cx="6840000" cy="680020"/>
          </a:xfrm>
          <a:prstGeom prst="roundRect">
            <a:avLst>
              <a:gd name="adj" fmla="val 1588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-b2"/>
          <p:cNvSpPr txBox="1"/>
          <p:nvPr/>
        </p:nvSpPr>
        <p:spPr>
          <a:xfrm>
            <a:off x="522000" y="3451140"/>
            <a:ext cx="4680000" cy="297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3 PRODUKTIONSLOGISTIK PRÜFT</a:t>
            </a:r>
          </a:p>
        </p:txBody>
      </p:sp>
      <p:sp>
        <p:nvSpPr>
          <p:cNvPr id="17" name="text-b2"/>
          <p:cNvSpPr txBox="1"/>
          <p:nvPr/>
        </p:nvSpPr>
        <p:spPr>
          <a:xfrm>
            <a:off x="5310000" y="3451140"/>
            <a:ext cx="17280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Produktionslogistik</a:t>
            </a:r>
          </a:p>
        </p:txBody>
      </p:sp>
      <p:sp>
        <p:nvSpPr>
          <p:cNvPr id="18" name="text-b2"/>
          <p:cNvSpPr txBox="1"/>
          <p:nvPr/>
        </p:nvSpPr>
        <p:spPr>
          <a:xfrm>
            <a:off x="522000" y="3714060"/>
            <a:ext cx="65160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Kontrolliert den Bestand in ARLG und den tatsächlichen Bestand im Lager.</a:t>
            </a:r>
          </a:p>
        </p:txBody>
      </p:sp>
      <p:sp>
        <p:nvSpPr>
          <p:cNvPr id="19" name="text-b3"/>
          <p:cNvSpPr txBox="1"/>
          <p:nvPr/>
        </p:nvSpPr>
        <p:spPr>
          <a:xfrm>
            <a:off x="360000" y="4185160"/>
            <a:ext cx="6840000" cy="297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Ist Material vorhanden?</a:t>
            </a:r>
          </a:p>
        </p:txBody>
      </p:sp>
      <p:sp>
        <p:nvSpPr>
          <p:cNvPr id="20" name="flaeche-b3ja"/>
          <p:cNvSpPr/>
          <p:nvPr/>
        </p:nvSpPr>
        <p:spPr>
          <a:xfrm>
            <a:off x="360000" y="4815280"/>
            <a:ext cx="3294000" cy="1829520"/>
          </a:xfrm>
          <a:prstGeom prst="roundRect">
            <a:avLst>
              <a:gd name="adj" fmla="val 5903"/>
            </a:avLst>
          </a:prstGeom>
          <a:solidFill>
            <a:srgbClr val="D9EBF2"/>
          </a:solidFill>
          <a:ln w="28575">
            <a:solidFill>
              <a:srgbClr val="00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aeche-b3ja"/>
          <p:cNvSpPr/>
          <p:nvPr/>
        </p:nvSpPr>
        <p:spPr>
          <a:xfrm>
            <a:off x="522000" y="4941280"/>
            <a:ext cx="720000" cy="252000"/>
          </a:xfrm>
          <a:prstGeom prst="roundRect">
            <a:avLst>
              <a:gd name="adj" fmla="val 42857"/>
            </a:avLst>
          </a:prstGeom>
          <a:solidFill>
            <a:srgbClr val="00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-b3ja"/>
          <p:cNvSpPr txBox="1"/>
          <p:nvPr/>
        </p:nvSpPr>
        <p:spPr>
          <a:xfrm>
            <a:off x="522000" y="4968220"/>
            <a:ext cx="720000" cy="297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</a:t>
            </a:r>
          </a:p>
        </p:txBody>
      </p:sp>
      <p:sp>
        <p:nvSpPr>
          <p:cNvPr id="23" name="text-b3ja"/>
          <p:cNvSpPr txBox="1"/>
          <p:nvPr/>
        </p:nvSpPr>
        <p:spPr>
          <a:xfrm>
            <a:off x="522000" y="5265280"/>
            <a:ext cx="2970000" cy="297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MATERIAL BESCHAFFEN</a:t>
            </a:r>
          </a:p>
        </p:txBody>
      </p:sp>
      <p:sp>
        <p:nvSpPr>
          <p:cNvPr id="24" name="text-b3ja"/>
          <p:cNvSpPr txBox="1"/>
          <p:nvPr/>
        </p:nvSpPr>
        <p:spPr>
          <a:xfrm>
            <a:off x="522000" y="5528200"/>
            <a:ext cx="2970000" cy="742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Produktionslogistik bringt Material oder beauftragt das Lager, es zum Übergabeplatz zu bringen. Sie organisiert die Bereitstellung und führt Systemumbuchungen durch.</a:t>
            </a:r>
          </a:p>
        </p:txBody>
      </p:sp>
      <p:sp>
        <p:nvSpPr>
          <p:cNvPr id="25" name="flaeche-b3nein"/>
          <p:cNvSpPr/>
          <p:nvPr/>
        </p:nvSpPr>
        <p:spPr>
          <a:xfrm>
            <a:off x="3906000" y="4815280"/>
            <a:ext cx="3294000" cy="1829520"/>
          </a:xfrm>
          <a:prstGeom prst="roundRect">
            <a:avLst>
              <a:gd name="adj" fmla="val 5903"/>
            </a:avLst>
          </a:prstGeom>
          <a:solidFill>
            <a:srgbClr val="FFFFFF"/>
          </a:solidFill>
          <a:ln w="19050">
            <a:solidFill>
              <a:srgbClr val="7B7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aeche-b3nein"/>
          <p:cNvSpPr/>
          <p:nvPr/>
        </p:nvSpPr>
        <p:spPr>
          <a:xfrm>
            <a:off x="3906000" y="4851280"/>
            <a:ext cx="108000" cy="175752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flaeche-b3nein"/>
          <p:cNvSpPr/>
          <p:nvPr/>
        </p:nvSpPr>
        <p:spPr>
          <a:xfrm>
            <a:off x="4068000" y="4941280"/>
            <a:ext cx="720000" cy="252000"/>
          </a:xfrm>
          <a:prstGeom prst="roundRect">
            <a:avLst>
              <a:gd name="adj" fmla="val 42857"/>
            </a:avLst>
          </a:prstGeom>
          <a:solidFill>
            <a:srgbClr val="5C5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-b3nein"/>
          <p:cNvSpPr txBox="1"/>
          <p:nvPr/>
        </p:nvSpPr>
        <p:spPr>
          <a:xfrm>
            <a:off x="4068000" y="4968220"/>
            <a:ext cx="720000" cy="297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NEIN</a:t>
            </a:r>
          </a:p>
        </p:txBody>
      </p:sp>
      <p:sp>
        <p:nvSpPr>
          <p:cNvPr id="29" name="text-b3nein"/>
          <p:cNvSpPr txBox="1"/>
          <p:nvPr/>
        </p:nvSpPr>
        <p:spPr>
          <a:xfrm>
            <a:off x="4068000" y="5265280"/>
            <a:ext cx="2970000" cy="297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SCHICHTFÜHRER INFORMIEREN</a:t>
            </a:r>
          </a:p>
        </p:txBody>
      </p:sp>
      <p:sp>
        <p:nvSpPr>
          <p:cNvPr id="30" name="text-b3nein"/>
          <p:cNvSpPr txBox="1"/>
          <p:nvPr/>
        </p:nvSpPr>
        <p:spPr>
          <a:xfrm>
            <a:off x="4068000" y="5528200"/>
            <a:ext cx="2970000" cy="1073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Produktionslogistik korrigiert bei bestätigter Bestandsabweichung den Systembestand und informiert den Schichtführer. Ist Weiterproduktion unmöglich, stoppt er die Produktion und informiert die Produktionsplanung: „Die Produktion wurde wegen fehlenden Materials gestoppt.“</a:t>
            </a:r>
          </a:p>
        </p:txBody>
      </p:sp>
      <p:cxnSp>
        <p:nvCxnSpPr>
          <p:cNvPr id="31" name="linie-b3"/>
          <p:cNvCxnSpPr/>
          <p:nvPr/>
        </p:nvCxnSpPr>
        <p:spPr>
          <a:xfrm>
            <a:off x="3780000" y="4455280"/>
            <a:ext cx="0" cy="180000"/>
          </a:xfrm>
          <a:prstGeom prst="line">
            <a:avLst/>
          </a:prstGeom>
          <a:ln w="19050">
            <a:solidFill>
              <a:srgbClr val="0079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inie-b3"/>
          <p:cNvCxnSpPr/>
          <p:nvPr/>
        </p:nvCxnSpPr>
        <p:spPr>
          <a:xfrm>
            <a:off x="2007000" y="4635280"/>
            <a:ext cx="3546000" cy="0"/>
          </a:xfrm>
          <a:prstGeom prst="line">
            <a:avLst/>
          </a:prstGeom>
          <a:ln w="19050">
            <a:solidFill>
              <a:srgbClr val="0079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inie-b3"/>
          <p:cNvCxnSpPr/>
          <p:nvPr/>
        </p:nvCxnSpPr>
        <p:spPr>
          <a:xfrm>
            <a:off x="2007000" y="4635280"/>
            <a:ext cx="0" cy="180000"/>
          </a:xfrm>
          <a:prstGeom prst="line">
            <a:avLst/>
          </a:prstGeom>
          <a:ln w="28575">
            <a:solidFill>
              <a:srgbClr val="0079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inie-b3"/>
          <p:cNvCxnSpPr/>
          <p:nvPr/>
        </p:nvCxnSpPr>
        <p:spPr>
          <a:xfrm>
            <a:off x="5553000" y="4635280"/>
            <a:ext cx="0" cy="180000"/>
          </a:xfrm>
          <a:prstGeom prst="line">
            <a:avLst/>
          </a:prstGeom>
          <a:ln w="12700">
            <a:solidFill>
              <a:srgbClr val="7B7C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aeche-b4"/>
          <p:cNvSpPr/>
          <p:nvPr/>
        </p:nvSpPr>
        <p:spPr>
          <a:xfrm>
            <a:off x="360000" y="6824800"/>
            <a:ext cx="6840000" cy="1962720"/>
          </a:xfrm>
          <a:prstGeom prst="roundRect">
            <a:avLst>
              <a:gd name="adj" fmla="val 5502"/>
            </a:avLst>
          </a:prstGeom>
          <a:solidFill>
            <a:srgbClr val="F2F2F2"/>
          </a:solidFill>
          <a:ln w="12700">
            <a:solidFill>
              <a:srgbClr val="00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linie-b4"/>
          <p:cNvCxnSpPr/>
          <p:nvPr/>
        </p:nvCxnSpPr>
        <p:spPr>
          <a:xfrm>
            <a:off x="522000" y="7458020"/>
            <a:ext cx="6516000" cy="0"/>
          </a:xfrm>
          <a:prstGeom prst="line">
            <a:avLst/>
          </a:prstGeom>
          <a:ln w="6350">
            <a:solidFill>
              <a:srgbClr val="D1D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inie-b4"/>
          <p:cNvCxnSpPr/>
          <p:nvPr/>
        </p:nvCxnSpPr>
        <p:spPr>
          <a:xfrm>
            <a:off x="522000" y="7896220"/>
            <a:ext cx="6516000" cy="0"/>
          </a:xfrm>
          <a:prstGeom prst="line">
            <a:avLst/>
          </a:prstGeom>
          <a:ln w="6350">
            <a:solidFill>
              <a:srgbClr val="D1D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inie-b4"/>
          <p:cNvCxnSpPr/>
          <p:nvPr/>
        </p:nvCxnSpPr>
        <p:spPr>
          <a:xfrm>
            <a:off x="522000" y="8169320"/>
            <a:ext cx="6516000" cy="0"/>
          </a:xfrm>
          <a:prstGeom prst="line">
            <a:avLst/>
          </a:prstGeom>
          <a:ln w="6350">
            <a:solidFill>
              <a:srgbClr val="D1D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linie-b4"/>
          <p:cNvCxnSpPr/>
          <p:nvPr/>
        </p:nvCxnSpPr>
        <p:spPr>
          <a:xfrm>
            <a:off x="522000" y="8442420"/>
            <a:ext cx="6516000" cy="0"/>
          </a:xfrm>
          <a:prstGeom prst="line">
            <a:avLst/>
          </a:prstGeom>
          <a:ln w="6350">
            <a:solidFill>
              <a:srgbClr val="D1D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-b4"/>
          <p:cNvSpPr txBox="1"/>
          <p:nvPr/>
        </p:nvSpPr>
        <p:spPr>
          <a:xfrm>
            <a:off x="522000" y="6950800"/>
            <a:ext cx="6516000" cy="297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WER MACHT WAS?</a:t>
            </a:r>
          </a:p>
        </p:txBody>
      </p:sp>
      <p:sp>
        <p:nvSpPr>
          <p:cNvPr id="41" name="text-b4"/>
          <p:cNvSpPr txBox="1"/>
          <p:nvPr/>
        </p:nvSpPr>
        <p:spPr>
          <a:xfrm>
            <a:off x="522000" y="7238920"/>
            <a:ext cx="19440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Mitarbeitende</a:t>
            </a:r>
          </a:p>
        </p:txBody>
      </p:sp>
      <p:sp>
        <p:nvSpPr>
          <p:cNvPr id="42" name="text-b4"/>
          <p:cNvSpPr txBox="1"/>
          <p:nvPr/>
        </p:nvSpPr>
        <p:spPr>
          <a:xfrm>
            <a:off x="2520000" y="7238920"/>
            <a:ext cx="45180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Materialmangel an Produktionslogistik melden.</a:t>
            </a:r>
          </a:p>
        </p:txBody>
      </p:sp>
      <p:sp>
        <p:nvSpPr>
          <p:cNvPr id="43" name="text-b4"/>
          <p:cNvSpPr txBox="1"/>
          <p:nvPr/>
        </p:nvSpPr>
        <p:spPr>
          <a:xfrm>
            <a:off x="522000" y="7512020"/>
            <a:ext cx="19440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Produktionslogistik</a:t>
            </a:r>
          </a:p>
        </p:txBody>
      </p:sp>
      <p:sp>
        <p:nvSpPr>
          <p:cNvPr id="44" name="text-b4"/>
          <p:cNvSpPr txBox="1"/>
          <p:nvPr/>
        </p:nvSpPr>
        <p:spPr>
          <a:xfrm>
            <a:off x="2520000" y="7512020"/>
            <a:ext cx="4518000" cy="412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Bestände prüfen, Material bereitstellen, Umbuchungen und bestätigte Bestandskorrekturen durchführen; Mangel melden.</a:t>
            </a:r>
          </a:p>
        </p:txBody>
      </p:sp>
      <p:sp>
        <p:nvSpPr>
          <p:cNvPr id="45" name="text-b4"/>
          <p:cNvSpPr txBox="1"/>
          <p:nvPr/>
        </p:nvSpPr>
        <p:spPr>
          <a:xfrm>
            <a:off x="522000" y="7950220"/>
            <a:ext cx="19440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Lager</a:t>
            </a:r>
          </a:p>
        </p:txBody>
      </p:sp>
      <p:sp>
        <p:nvSpPr>
          <p:cNvPr id="46" name="text-b4"/>
          <p:cNvSpPr txBox="1"/>
          <p:nvPr/>
        </p:nvSpPr>
        <p:spPr>
          <a:xfrm>
            <a:off x="2520000" y="7950220"/>
            <a:ext cx="45180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Material auf Anforderung zum Übergabeplatz bringen.</a:t>
            </a:r>
          </a:p>
        </p:txBody>
      </p:sp>
      <p:sp>
        <p:nvSpPr>
          <p:cNvPr id="47" name="text-b4"/>
          <p:cNvSpPr txBox="1"/>
          <p:nvPr/>
        </p:nvSpPr>
        <p:spPr>
          <a:xfrm>
            <a:off x="522000" y="8223320"/>
            <a:ext cx="19440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Schichtführer</a:t>
            </a:r>
          </a:p>
        </p:txBody>
      </p:sp>
      <p:sp>
        <p:nvSpPr>
          <p:cNvPr id="48" name="text-b4"/>
          <p:cNvSpPr txBox="1"/>
          <p:nvPr/>
        </p:nvSpPr>
        <p:spPr>
          <a:xfrm>
            <a:off x="2520000" y="8223320"/>
            <a:ext cx="45180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Über Stopp entscheiden und Produktionsplanung informieren.</a:t>
            </a:r>
          </a:p>
        </p:txBody>
      </p:sp>
      <p:sp>
        <p:nvSpPr>
          <p:cNvPr id="49" name="text-b4"/>
          <p:cNvSpPr txBox="1"/>
          <p:nvPr/>
        </p:nvSpPr>
        <p:spPr>
          <a:xfrm>
            <a:off x="522000" y="8496420"/>
            <a:ext cx="19440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Produktionsplanung</a:t>
            </a:r>
          </a:p>
        </p:txBody>
      </p:sp>
      <p:sp>
        <p:nvSpPr>
          <p:cNvPr id="50" name="text-b4"/>
          <p:cNvSpPr txBox="1"/>
          <p:nvPr/>
        </p:nvSpPr>
        <p:spPr>
          <a:xfrm>
            <a:off x="2520000" y="8496420"/>
            <a:ext cx="45180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Stückliste übergeben; Fehlmengen- und Stoppmeldung erhalten.</a:t>
            </a:r>
          </a:p>
        </p:txBody>
      </p:sp>
      <p:sp>
        <p:nvSpPr>
          <p:cNvPr id="51" name="flaeche-b5"/>
          <p:cNvSpPr/>
          <p:nvPr/>
        </p:nvSpPr>
        <p:spPr>
          <a:xfrm>
            <a:off x="360000" y="8967520"/>
            <a:ext cx="6840000" cy="450120"/>
          </a:xfrm>
          <a:prstGeom prst="roundRect">
            <a:avLst>
              <a:gd name="adj" fmla="val 23993"/>
            </a:avLst>
          </a:prstGeom>
          <a:solidFill>
            <a:srgbClr val="D9EBF2"/>
          </a:solidFill>
          <a:ln w="12700">
            <a:solidFill>
              <a:srgbClr val="00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-b5"/>
          <p:cNvSpPr txBox="1"/>
          <p:nvPr/>
        </p:nvSpPr>
        <p:spPr>
          <a:xfrm>
            <a:off x="522000" y="9093520"/>
            <a:ext cx="2160000" cy="297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WEITERARBEITEN WENN</a:t>
            </a:r>
          </a:p>
        </p:txBody>
      </p:sp>
      <p:sp>
        <p:nvSpPr>
          <p:cNvPr id="53" name="text-b5"/>
          <p:cNvSpPr txBox="1"/>
          <p:nvPr/>
        </p:nvSpPr>
        <p:spPr>
          <a:xfrm>
            <a:off x="2826000" y="9093520"/>
            <a:ext cx="42120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Benötigtes Material am Arbeitsplatz bereitsteht.</a:t>
            </a:r>
          </a:p>
        </p:txBody>
      </p:sp>
      <p:cxnSp>
        <p:nvCxnSpPr>
          <p:cNvPr id="54" name="linie-fuss"/>
          <p:cNvCxnSpPr/>
          <p:nvPr/>
        </p:nvCxnSpPr>
        <p:spPr>
          <a:xfrm>
            <a:off x="360000" y="10008000"/>
            <a:ext cx="6840000" cy="0"/>
          </a:xfrm>
          <a:prstGeom prst="line">
            <a:avLst/>
          </a:prstGeom>
          <a:ln w="6350">
            <a:solidFill>
              <a:srgbClr val="D1D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-fuss"/>
          <p:cNvSpPr txBox="1"/>
          <p:nvPr/>
        </p:nvSpPr>
        <p:spPr>
          <a:xfrm>
            <a:off x="360000" y="10080000"/>
            <a:ext cx="6840000" cy="198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5D5F"/>
                </a:solidFill>
                <a:latin typeface="Arial"/>
                <a:ea typeface="Arial"/>
                <a:cs typeface="Arial"/>
              </a:rPr>
              <a:t>RK-008   /   Revision 0.2   /   29.09.2026   /   freigegeben</a:t>
            </a:r>
          </a:p>
        </p:txBody>
      </p:sp>
      <p:sp>
        <p:nvSpPr>
          <p:cNvPr id="56" name="text-fuss"/>
          <p:cNvSpPr txBox="1"/>
          <p:nvPr/>
        </p:nvSpPr>
        <p:spPr>
          <a:xfrm>
            <a:off x="360000" y="10231200"/>
            <a:ext cx="6840000" cy="198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5D5F"/>
                </a:solidFill>
                <a:latin typeface="Arial"/>
                <a:ea typeface="Arial"/>
                <a:cs typeface="Arial"/>
              </a:rPr>
              <a:t>Verfasser: A. Brühl     Prüfer: Anna Felcova     Freigeber: Alexander Brühl</a:t>
            </a:r>
          </a:p>
        </p:txBody>
      </p:sp>
      <p:sp>
        <p:nvSpPr>
          <p:cNvPr id="57" name="text-fuss"/>
          <p:cNvSpPr txBox="1"/>
          <p:nvPr/>
        </p:nvSpPr>
        <p:spPr>
          <a:xfrm>
            <a:off x="360000" y="10382400"/>
            <a:ext cx="6840000" cy="198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5D5F"/>
                </a:solidFill>
                <a:latin typeface="Arial"/>
                <a:ea typeface="Arial"/>
                <a:cs typeface="Arial"/>
              </a:rPr>
              <a:t>A4 Hochformat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